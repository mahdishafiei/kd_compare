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  <p:sldId id="266" r:id="rId11"/>
    <p:sldId id="264" r:id="rId12"/>
    <p:sldId id="270" r:id="rId13"/>
    <p:sldId id="271" r:id="rId14"/>
    <p:sldId id="267" r:id="rId15"/>
    <p:sldId id="268" r:id="rId16"/>
    <p:sldId id="276" r:id="rId17"/>
    <p:sldId id="277" r:id="rId18"/>
    <p:sldId id="279" r:id="rId19"/>
    <p:sldId id="269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5A787-F3EA-404A-8FD3-0BDC715798F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88BF7-A28C-0646-877E-7E16DB7B2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4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B3E6-2A8C-CBC0-CA25-2B3000DF0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2E31-D28A-1B11-180D-0D92F5154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BF696-EF22-00FB-FB3D-ED0EEA47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9F478-B407-7231-B764-88A328A1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1BC6E-6379-87F4-9C0B-8051BF15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6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3041-B60C-FE73-766E-F37BC253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F6C0-F7DA-AC79-057E-9BAD3FDCB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0CC68-6045-9D73-1868-0064DB15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46B1E-7DA6-D0FD-35DC-8303A7C8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8BE0F-10A1-A8D0-4D68-A7F5A25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5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A776-AD76-30E1-A375-2B96F4FF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B6510-DC17-BD1B-D34A-B71EDF649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5F5D3-A974-44EC-5DAA-4DFE150A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F3213-C0C8-5F8E-1DA9-0D5E319C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B07C-42E4-4033-F0F0-F30128CC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8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363A-C29D-87FA-1A2D-9B8CCCBF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759EB-9679-30AC-FD63-C7DAD6EC3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DC4AB-41B8-F920-AF99-802D0F9F5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AD1A0-B380-0313-E439-B8D3C2DC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3909A-BA19-35D5-6D4B-09BE08D7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C5CEE-378C-7855-51AC-E1D409D3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9A6D-B947-1345-C835-7A895FB6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08AA4-A9F1-CDF8-DA1A-1CE3264CE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50806-0306-AA53-F2FE-F1215E445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FDD96-FF6E-70BE-E62F-446AAD74A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649A2-DEBA-A69F-B837-EF9115F31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7CD8BA-76EB-A667-DB62-FAD3CA7B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434C5-FD6D-ACDF-6C35-817F2528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C2992-3F7B-26AD-66AD-06FC1779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B1D1-D2BC-A092-887C-C6DC865F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9FE6C-0455-516E-6328-CD4C013C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6ABCE-556E-829A-E60B-F03499BD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54907-6853-E4DD-EBC6-310BFFBF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3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CFF8B-4DD3-AD1B-E56A-F066E928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5FC80-575F-B860-E08D-54EAD9C3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D17D0-6D2D-0C96-1E06-80649E3D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8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F088-A536-1007-9684-76CEE376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44C35-48A7-7170-2745-A1B0BF634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FB6C1-4835-AC6D-9CCF-A3A798B88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46B1D-489B-1BA6-6761-E754081B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F8001-5FAD-18AB-D152-C585F927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39ECE-5D2F-3578-8B68-157B9E48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2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D9B5-4AB2-49B1-4311-8F8496E8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608D0-57E9-BB20-10FA-5EF718753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B1FEA-827B-5585-46A2-13D8CCCE1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9A888-C501-F38A-5ECD-4678C875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2EBED-71B4-AA9A-8A3E-409F9D8F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A7602-2FF3-C8ED-C860-57FAA64C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9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0B13-69C1-82BD-8D0B-05329095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1074A-7EBA-D60A-B149-CD5E520F9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5AF8-B9A9-8B91-4999-34563504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511A-A0F9-E8F8-D6EB-3E5D343A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84D2C-74E8-EE35-866D-E9902C93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7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9659A-57AC-FA25-843E-1DE496510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A3E7D-2998-0BF4-A257-7800A1E11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C6BAA-9E26-8237-5993-9B74A86F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3FAB-EA75-627C-4361-4B0F4430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F5530-B80C-4693-ACB9-BAF53624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1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12BDAE-3D43-3382-64A2-5ADCAEB4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908D1-BAEF-2098-DB1E-C495BB71E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DF10-A358-67BD-39D0-05EAAE5116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B1B5C-3EE0-154D-BBF1-C1CA44296BD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377AB-F7A4-54C2-3D63-0EC03AB12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E59E1-F1B2-23D0-783D-D83E1C04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09102-B671-1C49-AF8A-F66DC094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2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6BFB-B4DB-6746-261A-4ED59592C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update- Ab engineering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FBDA5-4D28-FABC-0338-D0C52EAEB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2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E0CD48B-0B29-701F-278E-264F804B0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170"/>
          <a:stretch>
            <a:fillRect/>
          </a:stretch>
        </p:blipFill>
        <p:spPr>
          <a:xfrm>
            <a:off x="3260816" y="0"/>
            <a:ext cx="6712358" cy="67942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20A8DF-5E86-88E7-E2A0-55E4A4D2D39F}"/>
              </a:ext>
            </a:extLst>
          </p:cNvPr>
          <p:cNvSpPr txBox="1"/>
          <p:nvPr/>
        </p:nvSpPr>
        <p:spPr>
          <a:xfrm>
            <a:off x="871870" y="372139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50580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5556-CDD9-C186-B33D-EAE7194E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From first BLI we found 4 Fabs are doing better than others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119F-553E-2512-727F-236A16CD7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Fab 22 </a:t>
            </a:r>
          </a:p>
          <a:p>
            <a:r>
              <a:rPr lang="en-US" dirty="0"/>
              <a:t>Fab 06 </a:t>
            </a:r>
          </a:p>
          <a:p>
            <a:r>
              <a:rPr lang="en-US" dirty="0"/>
              <a:t>Fab 10</a:t>
            </a:r>
          </a:p>
          <a:p>
            <a:r>
              <a:rPr lang="en-US" dirty="0"/>
              <a:t>Fab 11</a:t>
            </a:r>
          </a:p>
          <a:p>
            <a:endParaRPr lang="en-US" dirty="0"/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054AF5F8-A1CA-A161-C389-D94FDA298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683" y="2522057"/>
            <a:ext cx="7772400" cy="2192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0C1FE7-65AF-D046-DB6C-D2C232FA4CD7}"/>
              </a:ext>
            </a:extLst>
          </p:cNvPr>
          <p:cNvSpPr txBox="1"/>
          <p:nvPr/>
        </p:nvSpPr>
        <p:spPr>
          <a:xfrm>
            <a:off x="687977" y="5111931"/>
            <a:ext cx="1132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Notes: At this stage we don’t have KDs yet = so we needed to have serial dilutions just for a few of fabs to find KDs </a:t>
            </a:r>
          </a:p>
        </p:txBody>
      </p:sp>
    </p:spTree>
    <p:extLst>
      <p:ext uri="{BB962C8B-B14F-4D97-AF65-F5344CB8AC3E}">
        <p14:creationId xmlns:p14="http://schemas.microsoft.com/office/powerpoint/2010/main" val="959079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4734-82BB-C9C4-D9B0-295CF3D2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95" y="156119"/>
            <a:ext cx="10515600" cy="1325563"/>
          </a:xfrm>
        </p:spPr>
        <p:txBody>
          <a:bodyPr/>
          <a:lstStyle/>
          <a:p>
            <a:r>
              <a:rPr lang="en-US" dirty="0"/>
              <a:t>Second BLI: 4 top picks fabs against all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5797-72A0-8E60-77BD-A019CD3D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tested Fab 22, Fab 06, Fab 10 and Fab 11against:</a:t>
            </a:r>
          </a:p>
          <a:p>
            <a:endParaRPr lang="en-US" dirty="0"/>
          </a:p>
          <a:p>
            <a:pPr fontAlgn="ctr"/>
            <a:r>
              <a:rPr lang="en-US" b="1" dirty="0"/>
              <a:t>A/Texas/37/2024 (H5N1)</a:t>
            </a:r>
          </a:p>
          <a:p>
            <a:pPr fontAlgn="ctr"/>
            <a:r>
              <a:rPr lang="en-US" b="1" dirty="0"/>
              <a:t>A/Vietnam/1203/2004 (H5N1)</a:t>
            </a:r>
          </a:p>
          <a:p>
            <a:pPr fontAlgn="ctr"/>
            <a:r>
              <a:rPr lang="en-US" b="1" dirty="0"/>
              <a:t>A/Singapore/1/1957 (H2N2)</a:t>
            </a:r>
          </a:p>
          <a:p>
            <a:pPr fontAlgn="ctr"/>
            <a:r>
              <a:rPr lang="en-US" b="1" dirty="0"/>
              <a:t>A/Anhui/1/2013 (H7N9)</a:t>
            </a:r>
          </a:p>
          <a:p>
            <a:pPr fontAlgn="ctr"/>
            <a:r>
              <a:rPr lang="en-US" b="1" dirty="0"/>
              <a:t>A/Michigan/45/2015 (H1N1)pdm09</a:t>
            </a:r>
          </a:p>
          <a:p>
            <a:pPr fontAlgn="ctr"/>
            <a:r>
              <a:rPr lang="en-US" b="1" dirty="0"/>
              <a:t>A/Hong Kong/1/1968 (H3N2)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1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60E0-26C5-AA80-AFAC-4F4FD2FA6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table with numbers and a few black lines&#10;&#10;AI-generated content may be incorrect.">
            <a:extLst>
              <a:ext uri="{FF2B5EF4-FFF2-40B4-BE49-F238E27FC236}">
                <a16:creationId xmlns:a16="http://schemas.microsoft.com/office/drawing/2014/main" id="{F3FD40CF-C269-8752-C8EF-EBC156DEC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" y="1586060"/>
            <a:ext cx="10515600" cy="3685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DA931A-9E4E-02BC-DDBC-2F7913E27A45}"/>
              </a:ext>
            </a:extLst>
          </p:cNvPr>
          <p:cNvSpPr txBox="1"/>
          <p:nvPr/>
        </p:nvSpPr>
        <p:spPr>
          <a:xfrm>
            <a:off x="8666718" y="843240"/>
            <a:ext cx="26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R-square threshold : %95</a:t>
            </a:r>
          </a:p>
        </p:txBody>
      </p:sp>
    </p:spTree>
    <p:extLst>
      <p:ext uri="{BB962C8B-B14F-4D97-AF65-F5344CB8AC3E}">
        <p14:creationId xmlns:p14="http://schemas.microsoft.com/office/powerpoint/2010/main" val="287496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table with numbers and a few rows of numbers&#10;&#10;AI-generated content may be incorrect.">
            <a:extLst>
              <a:ext uri="{FF2B5EF4-FFF2-40B4-BE49-F238E27FC236}">
                <a16:creationId xmlns:a16="http://schemas.microsoft.com/office/drawing/2014/main" id="{F6EBB834-A5BA-6151-D484-F7230A207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0515600" cy="368588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919CCC6-22C9-3E2F-8998-32C1270E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CB693-4CB4-6B5F-E096-B2E91F79F705}"/>
              </a:ext>
            </a:extLst>
          </p:cNvPr>
          <p:cNvSpPr txBox="1"/>
          <p:nvPr/>
        </p:nvSpPr>
        <p:spPr>
          <a:xfrm>
            <a:off x="8666718" y="843240"/>
            <a:ext cx="26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R-square threshold : %95</a:t>
            </a:r>
          </a:p>
        </p:txBody>
      </p:sp>
    </p:spTree>
    <p:extLst>
      <p:ext uri="{BB962C8B-B14F-4D97-AF65-F5344CB8AC3E}">
        <p14:creationId xmlns:p14="http://schemas.microsoft.com/office/powerpoint/2010/main" val="149585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B6667-E6AD-5C8A-B3B3-18987289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 descr="A table with numbers and a few black lines&#10;&#10;AI-generated content may be incorrect.">
            <a:extLst>
              <a:ext uri="{FF2B5EF4-FFF2-40B4-BE49-F238E27FC236}">
                <a16:creationId xmlns:a16="http://schemas.microsoft.com/office/drawing/2014/main" id="{F077B294-FB00-4C36-9285-0F47427B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94" y="1690688"/>
            <a:ext cx="10344855" cy="362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1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EDAFA9-A3FB-4DEC-D475-F3E304CA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 descr="A table with numbers and a few different numbers&#10;&#10;AI-generated content may be incorrect.">
            <a:extLst>
              <a:ext uri="{FF2B5EF4-FFF2-40B4-BE49-F238E27FC236}">
                <a16:creationId xmlns:a16="http://schemas.microsoft.com/office/drawing/2014/main" id="{FB3545DA-2362-293D-19F3-2E7D35BD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" y="1555569"/>
            <a:ext cx="11139898" cy="390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9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EABE-DFB8-6842-7099-84B263D7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C430DD-791A-4068-EEC3-E8E8043E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BA6EFE9E-7BAF-AEAE-FEE9-D9A67A576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27" y="2166439"/>
            <a:ext cx="11014473" cy="228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5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E8388-A489-A620-ED7F-0F8A1DCB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5539D7-71C1-8DE7-5C9E-5B4BE374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2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A table with numbers and a number of times&#10;&#10;AI-generated content may be incorrect.">
            <a:extLst>
              <a:ext uri="{FF2B5EF4-FFF2-40B4-BE49-F238E27FC236}">
                <a16:creationId xmlns:a16="http://schemas.microsoft.com/office/drawing/2014/main" id="{A0529888-5EAB-C6F0-F07A-97BE0C23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485899"/>
            <a:ext cx="11015672" cy="38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8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B66CFC-FBD4-16EF-77BD-92B959522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910800"/>
              </p:ext>
            </p:extLst>
          </p:nvPr>
        </p:nvGraphicFramePr>
        <p:xfrm>
          <a:off x="3019443" y="1447483"/>
          <a:ext cx="5488831" cy="4965932"/>
        </p:xfrm>
        <a:graphic>
          <a:graphicData uri="http://schemas.openxmlformats.org/drawingml/2006/table">
            <a:tbl>
              <a:tblPr>
                <a:tableStyleId>{91EBBBCC-DAD2-459C-BE2E-F6DE35CF9A28}</a:tableStyleId>
              </a:tblPr>
              <a:tblGrid>
                <a:gridCol w="1058464">
                  <a:extLst>
                    <a:ext uri="{9D8B030D-6E8A-4147-A177-3AD203B41FA5}">
                      <a16:colId xmlns:a16="http://schemas.microsoft.com/office/drawing/2014/main" val="3114806253"/>
                    </a:ext>
                  </a:extLst>
                </a:gridCol>
                <a:gridCol w="1786439">
                  <a:extLst>
                    <a:ext uri="{9D8B030D-6E8A-4147-A177-3AD203B41FA5}">
                      <a16:colId xmlns:a16="http://schemas.microsoft.com/office/drawing/2014/main" val="3089481218"/>
                    </a:ext>
                  </a:extLst>
                </a:gridCol>
                <a:gridCol w="2643928">
                  <a:extLst>
                    <a:ext uri="{9D8B030D-6E8A-4147-A177-3AD203B41FA5}">
                      <a16:colId xmlns:a16="http://schemas.microsoft.com/office/drawing/2014/main" val="4249988682"/>
                    </a:ext>
                  </a:extLst>
                </a:gridCol>
              </a:tblGrid>
              <a:tr h="3464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sng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Sample ID</a:t>
                      </a:r>
                      <a:endParaRPr lang="en-US" sz="1600" b="1" u="sng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sng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Onset #1 for Ratio </a:t>
                      </a:r>
                      <a:endParaRPr lang="en-US" sz="1600" b="1" u="sng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sng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Inflection Point #1 for Ratio </a:t>
                      </a:r>
                      <a:endParaRPr lang="en-US" sz="1600" b="1" u="sng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899542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22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68.2°C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74.2°C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683197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22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68.1°C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74.3°C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143352"/>
                  </a:ext>
                </a:extLst>
              </a:tr>
              <a:tr h="32960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22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67.3°C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74.2°C</a:t>
                      </a:r>
                      <a:endParaRPr 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183915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06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69.4°C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677328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06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68.4°C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75.7°C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28139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Fab 06 </a:t>
                      </a:r>
                      <a:endParaRPr lang="en-US" sz="16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69.0°C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53007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62.7°C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70.0°C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6025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62.5°C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612129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944500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68.1°C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474961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67.1°C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958250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 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66.5°C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275204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68.0°C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74.8°C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475659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74.9°C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13559"/>
                  </a:ext>
                </a:extLst>
              </a:tr>
              <a:tr h="30642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68.7°C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75.0°C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97869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1FE175D-BD54-40C0-AA31-9B8DA586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72" y="121920"/>
            <a:ext cx="10515600" cy="1325563"/>
          </a:xfrm>
        </p:spPr>
        <p:txBody>
          <a:bodyPr/>
          <a:lstStyle/>
          <a:p>
            <a:r>
              <a:rPr lang="en-US" dirty="0" err="1"/>
              <a:t>NanoDSF</a:t>
            </a:r>
            <a:r>
              <a:rPr lang="en-US" dirty="0"/>
              <a:t> results</a:t>
            </a:r>
          </a:p>
        </p:txBody>
      </p:sp>
    </p:spTree>
    <p:extLst>
      <p:ext uri="{BB962C8B-B14F-4D97-AF65-F5344CB8AC3E}">
        <p14:creationId xmlns:p14="http://schemas.microsoft.com/office/powerpoint/2010/main" val="789174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3FBD-5FFB-D34E-4BA3-749A8976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8B9175-0F44-1C1F-D5F0-10213581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Third round of BLI: full plate comparison of Fab22 and WT against all antigens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A80826-D49B-47E8-D235-7429721FD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61" y="1609619"/>
            <a:ext cx="10515600" cy="3951660"/>
          </a:xfrm>
        </p:spPr>
        <p:txBody>
          <a:bodyPr/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Fab 22 and WT against :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dirty="0"/>
              <a:t>A/Texas/37/2024 (H5N1)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dirty="0"/>
              <a:t>A/Vietnam/1203/2004 (H5N1)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A/Singapore/1/1957 (H2N2)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A/Anhui/1/2013 (H7N9)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A/Michigan/45/2015 (H1N1)pdm09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A/Hong Kong/1/1968 (H3N2)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endParaRPr lang="en-US" dirty="0"/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endParaRPr lang="en-US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3CAFE5A8-3770-3765-3152-5CEA0ACD1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462" y="1901283"/>
            <a:ext cx="4583150" cy="305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3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F2FC-F7C4-4B31-34E1-B52C8161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A2BB0E-472B-A63C-4218-27DE72FE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3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A39588E5-6F34-39A4-B482-8F0029DFF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485900"/>
            <a:ext cx="5842000" cy="3886200"/>
          </a:xfrm>
          <a:prstGeom prst="rect">
            <a:avLst/>
          </a:prstGeom>
        </p:spPr>
      </p:pic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630A3BF3-0A41-5687-5F6C-04790039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622" y="1581331"/>
            <a:ext cx="5842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25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C6AC08FF-AF02-287A-EFD0-AB726064E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0417" y="1988162"/>
            <a:ext cx="5842000" cy="3556000"/>
          </a:xfrm>
          <a:prstGeom prst="rect">
            <a:avLst/>
          </a:prstGeom>
        </p:spPr>
      </p:pic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2C4913E5-E108-E121-6447-B906D3BC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462530"/>
            <a:ext cx="5842000" cy="22987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7A2CCD4-A33D-EA76-B7E9-190D4A37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4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7EBEAB7-DAC1-15FE-B087-17860143D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0000" y="1651000"/>
            <a:ext cx="5842000" cy="3886200"/>
          </a:xfrm>
          <a:prstGeom prst="rect">
            <a:avLst/>
          </a:prstGeom>
        </p:spPr>
      </p:pic>
      <p:pic>
        <p:nvPicPr>
          <p:cNvPr id="7" name="Picture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822186E7-6A20-05CE-54A2-48128FB10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690688"/>
            <a:ext cx="5842000" cy="3556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38C787E-858C-2A96-AC76-BCD2CA36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BLI results : round 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16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AE7C-1A3E-0C80-0B60-F5F225F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 comparison plots – round 2</a:t>
            </a:r>
          </a:p>
        </p:txBody>
      </p:sp>
      <p:pic>
        <p:nvPicPr>
          <p:cNvPr id="5" name="Content Placeholder 4" descr="A graph of a line graph&#10;&#10;AI-generated content may be incorrect.">
            <a:extLst>
              <a:ext uri="{FF2B5EF4-FFF2-40B4-BE49-F238E27FC236}">
                <a16:creationId xmlns:a16="http://schemas.microsoft.com/office/drawing/2014/main" id="{723D996A-E664-A57D-6F8F-3655FCA2E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92"/>
          <a:stretch>
            <a:fillRect/>
          </a:stretch>
        </p:blipFill>
        <p:spPr>
          <a:xfrm>
            <a:off x="838200" y="1690688"/>
            <a:ext cx="10276564" cy="410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87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C1F0-6B46-6A54-25C8-B5466834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2A03-5B27-A637-05E7-C718AE1F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 comparison plots – round 2</a:t>
            </a:r>
          </a:p>
        </p:txBody>
      </p:sp>
      <p:pic>
        <p:nvPicPr>
          <p:cNvPr id="7" name="Content Placeholder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9251EC9-BA33-ECBE-5C5A-9DB322898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57"/>
          <a:stretch>
            <a:fillRect/>
          </a:stretch>
        </p:blipFill>
        <p:spPr>
          <a:xfrm>
            <a:off x="957717" y="1856509"/>
            <a:ext cx="10792591" cy="432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23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24A1-DBAF-4FB8-A6F9-07100E02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D37DF-74E4-2547-6C97-FCC0AF8F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 comparison plots – round 3</a:t>
            </a:r>
          </a:p>
        </p:txBody>
      </p:sp>
      <p:pic>
        <p:nvPicPr>
          <p:cNvPr id="6" name="Content Placeholder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4A24080-60CB-0B8C-DC21-E8F62977F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568"/>
          <a:stretch>
            <a:fillRect/>
          </a:stretch>
        </p:blipFill>
        <p:spPr>
          <a:xfrm>
            <a:off x="1174844" y="2272146"/>
            <a:ext cx="9842312" cy="3673908"/>
          </a:xfrm>
          <a:prstGeom prst="rect">
            <a:avLst/>
          </a:prstGeom>
        </p:spPr>
      </p:pic>
      <p:pic>
        <p:nvPicPr>
          <p:cNvPr id="9" name="Picture 8" descr="A purple rectangular object with numbers&#10;&#10;AI-generated content may be incorrect.">
            <a:extLst>
              <a:ext uri="{FF2B5EF4-FFF2-40B4-BE49-F238E27FC236}">
                <a16:creationId xmlns:a16="http://schemas.microsoft.com/office/drawing/2014/main" id="{0892463F-61C3-3B7F-4E20-541C85697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25"/>
          <a:stretch>
            <a:fillRect/>
          </a:stretch>
        </p:blipFill>
        <p:spPr>
          <a:xfrm>
            <a:off x="6558395" y="2049387"/>
            <a:ext cx="618259" cy="22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8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386F-8651-D7AE-5045-F243BE44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step: to see if the binding </a:t>
            </a:r>
            <a:r>
              <a:rPr lang="en-US" dirty="0" err="1"/>
              <a:t>scite</a:t>
            </a:r>
            <a:r>
              <a:rPr lang="en-US" dirty="0"/>
              <a:t> are correct and if the binding is </a:t>
            </a:r>
            <a:r>
              <a:rPr lang="en-US" dirty="0" err="1"/>
              <a:t>happeing</a:t>
            </a:r>
            <a:r>
              <a:rPr lang="en-US" dirty="0"/>
              <a:t> in microscope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AB28-D8B8-4624-CBF1-FA117A963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CryoEM</a:t>
            </a:r>
            <a:r>
              <a:rPr lang="en-US" b="1" dirty="0"/>
              <a:t> – First Set</a:t>
            </a:r>
            <a:br>
              <a:rPr lang="en-US" dirty="0"/>
            </a:br>
            <a:r>
              <a:rPr lang="en-US" dirty="0"/>
              <a:t>3 grids: TX24 vs Fab22, TX24 vs WT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Issue: We couldn’t see free HA </a:t>
            </a:r>
          </a:p>
          <a:p>
            <a:r>
              <a:rPr lang="en-US" dirty="0"/>
              <a:t>Solution: let’s see how Negative stain shows them</a:t>
            </a:r>
          </a:p>
        </p:txBody>
      </p:sp>
    </p:spTree>
    <p:extLst>
      <p:ext uri="{BB962C8B-B14F-4D97-AF65-F5344CB8AC3E}">
        <p14:creationId xmlns:p14="http://schemas.microsoft.com/office/powerpoint/2010/main" val="1607578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1D7E-5782-47BB-3150-9743D4B3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stain showed a lot of </a:t>
            </a:r>
            <a:r>
              <a:rPr lang="en-US" dirty="0" err="1"/>
              <a:t>rosets</a:t>
            </a:r>
            <a:r>
              <a:rPr lang="en-US" dirty="0"/>
              <a:t> and </a:t>
            </a:r>
            <a:r>
              <a:rPr lang="en-US" dirty="0" err="1"/>
              <a:t>aggragation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D297-1728-438A-905D-C8A4E14A5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Negative Stain EM : 3 grids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TX24 vs Fab22</a:t>
            </a:r>
          </a:p>
          <a:p>
            <a:pPr marL="0" indent="0">
              <a:buNone/>
            </a:pPr>
            <a:r>
              <a:rPr lang="en-US" dirty="0"/>
              <a:t>   TX24 vs WT</a:t>
            </a:r>
          </a:p>
          <a:p>
            <a:pPr marL="0" indent="0">
              <a:buNone/>
            </a:pPr>
            <a:r>
              <a:rPr lang="en-US" dirty="0"/>
              <a:t>   Michigan vs WT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wait! Can we see the binding between VN04 and WT actually? </a:t>
            </a:r>
            <a:r>
              <a:rPr lang="en-US" dirty="0" err="1"/>
              <a:t>Prooving</a:t>
            </a:r>
            <a:r>
              <a:rPr lang="en-US" dirty="0"/>
              <a:t> </a:t>
            </a:r>
            <a:r>
              <a:rPr lang="en-US" dirty="0" err="1"/>
              <a:t>somehting</a:t>
            </a:r>
            <a:r>
              <a:rPr lang="en-US" dirty="0"/>
              <a:t> that mention in the paper!</a:t>
            </a:r>
          </a:p>
          <a:p>
            <a:pPr marL="0" indent="0">
              <a:buNone/>
            </a:pPr>
            <a:r>
              <a:rPr lang="en-US" dirty="0"/>
              <a:t>OR </a:t>
            </a:r>
            <a:r>
              <a:rPr lang="en-US" dirty="0" err="1"/>
              <a:t>genscript</a:t>
            </a:r>
            <a:r>
              <a:rPr lang="en-US" dirty="0"/>
              <a:t> fabs have problem maybe? </a:t>
            </a:r>
          </a:p>
        </p:txBody>
      </p:sp>
    </p:spTree>
    <p:extLst>
      <p:ext uri="{BB962C8B-B14F-4D97-AF65-F5344CB8AC3E}">
        <p14:creationId xmlns:p14="http://schemas.microsoft.com/office/powerpoint/2010/main" val="3261366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3B8D-BF54-43F3-CA34-D5E285A4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</a:t>
            </a:r>
            <a:r>
              <a:rPr lang="en-US" dirty="0" err="1"/>
              <a:t>cryoEM</a:t>
            </a:r>
            <a:r>
              <a:rPr lang="en-US" dirty="0"/>
              <a:t> to see if actually WT and VN04 are </a:t>
            </a:r>
            <a:r>
              <a:rPr lang="en-US" dirty="0" err="1"/>
              <a:t>bnding</a:t>
            </a:r>
            <a:r>
              <a:rPr lang="en-US" dirty="0"/>
              <a:t> </a:t>
            </a:r>
            <a:r>
              <a:rPr lang="en-US" dirty="0" err="1"/>
              <a:t>togereh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9E24D-644E-2C06-7129-DA62816F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Monica </a:t>
            </a:r>
            <a:r>
              <a:rPr lang="en-US" dirty="0" err="1"/>
              <a:t>mentiond</a:t>
            </a:r>
            <a:r>
              <a:rPr lang="en-US" dirty="0"/>
              <a:t> we could see binding in control ‘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Nest step: SPR? </a:t>
            </a:r>
          </a:p>
        </p:txBody>
      </p:sp>
    </p:spTree>
    <p:extLst>
      <p:ext uri="{BB962C8B-B14F-4D97-AF65-F5344CB8AC3E}">
        <p14:creationId xmlns:p14="http://schemas.microsoft.com/office/powerpoint/2010/main" val="3429718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9084-EEC6-A5A2-5FF0-4676E4A0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5E80-F4D8-DA6E-4064-F3A60584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77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6590-CAB8-C185-7B18-B172A8E6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671D-4AAF-536E-85DA-4A8A2658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02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548</Words>
  <Application>Microsoft Macintosh PowerPoint</Application>
  <PresentationFormat>Widescreen</PresentationFormat>
  <Paragraphs>109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Progress update- Ab engineering project</vt:lpstr>
      <vt:lpstr>PowerPoint Presentation</vt:lpstr>
      <vt:lpstr>From first BLI we found 4 Fabs are doing better than others </vt:lpstr>
      <vt:lpstr>Second BLI: 4 top picks fabs against all </vt:lpstr>
      <vt:lpstr>BLI results : round 2 </vt:lpstr>
      <vt:lpstr>BLI results : round 2 </vt:lpstr>
      <vt:lpstr>BLI results : round 2 </vt:lpstr>
      <vt:lpstr>BLI results : round 2 </vt:lpstr>
      <vt:lpstr>BLI results : round 2 </vt:lpstr>
      <vt:lpstr>BLI results : round 2 </vt:lpstr>
      <vt:lpstr>NanoDSF results</vt:lpstr>
      <vt:lpstr>Third round of BLI: full plate comparison of Fab22 and WT against all antigens</vt:lpstr>
      <vt:lpstr>BLI results : round 3 </vt:lpstr>
      <vt:lpstr>BLI results : round 3 </vt:lpstr>
      <vt:lpstr>BLI results : round 3 </vt:lpstr>
      <vt:lpstr>KD comparison plots – round 2</vt:lpstr>
      <vt:lpstr>KD comparison plots – round 2</vt:lpstr>
      <vt:lpstr>KD comparison plots – round 3</vt:lpstr>
      <vt:lpstr>Next step: to see if the binding scite are correct and if the binding is happeing in microscope</vt:lpstr>
      <vt:lpstr>Negative stain showed a lot of rosets and aggragation!</vt:lpstr>
      <vt:lpstr>Next step: cryoEM to see if actually WT and VN04 are bnding togereh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Mahdi Shafiei Neyestanak</dc:creator>
  <cp:lastModifiedBy>Mahdi Shafiei Neyestanak</cp:lastModifiedBy>
  <cp:revision>4</cp:revision>
  <dcterms:created xsi:type="dcterms:W3CDTF">2026-03-12T01:25:07Z</dcterms:created>
  <dcterms:modified xsi:type="dcterms:W3CDTF">2026-03-12T16:50:40Z</dcterms:modified>
</cp:coreProperties>
</file>